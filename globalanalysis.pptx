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7010400" cy="9296400"/>
  <p:embeddedFontLst>
    <p:embeddedFont>
      <p:font typeface="Libre Baskerville" panose="020F0502020204030204" pitchFamily="2" charset="0"/>
      <p:regular r:id="rId17"/>
      <p:bold r:id="rId18"/>
      <p:italic r:id="rId19"/>
      <p:boldItalic r:id="rId20"/>
    </p:embeddedFont>
    <p:embeddedFont>
      <p:font typeface="Lilita One" panose="020B0604020202020204" charset="0"/>
      <p:regular r:id="rId21"/>
    </p:embeddedFont>
    <p:embeddedFont>
      <p:font typeface="Roboto" panose="020F0502020204030204"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1040" y="4415790"/>
            <a:ext cx="5608320" cy="4183380"/>
          </a:xfrm>
          <a:prstGeom prst="rect">
            <a:avLst/>
          </a:prstGeom>
          <a:noFill/>
          <a:ln>
            <a:noFill/>
          </a:ln>
        </p:spPr>
        <p:txBody>
          <a:bodyPr spcFirstLastPara="1" wrap="square" lIns="93162" tIns="93162" rIns="93162" bIns="93162"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p: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49de2d3dfd_0_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49de2d3dfd_0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49de2d3dfd_0_66: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49de2d3dfd_0_66: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49de2d3dfd_2_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49de2d3dfd_2_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49de2d3dfd_1_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49de2d3dfd_1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4b2afa5d67_0_1: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4b2afa5d67_0_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49de2d3dfd_3_0: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49de2d3dfd_3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49de2d3dfd_0_73: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49de2d3dfd_0_73: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b912149cd_0_1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4b912149cd_0_1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49de2d3dfd_3_5:notes"/>
          <p:cNvSpPr>
            <a:spLocks noGrp="1" noRot="1" noChangeAspect="1"/>
          </p:cNvSpPr>
          <p:nvPr>
            <p:ph type="sldImg" idx="2"/>
          </p:nvPr>
        </p:nvSpPr>
        <p:spPr>
          <a:xfrm>
            <a:off x="406400" y="696913"/>
            <a:ext cx="6197600"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49de2d3dfd_3_5: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9de2d3dfd_3_11: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9de2d3dfd_3_11: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4b912149cd_0_4: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4b912149cd_0_4: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4b912149cd_0_2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34b912149cd_0_2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4b964913a5_3_0:notes"/>
          <p:cNvSpPr>
            <a:spLocks noGrp="1" noRot="1" noChangeAspect="1"/>
          </p:cNvSpPr>
          <p:nvPr>
            <p:ph type="sldImg" idx="2"/>
          </p:nvPr>
        </p:nvSpPr>
        <p:spPr>
          <a:xfrm>
            <a:off x="406400" y="696913"/>
            <a:ext cx="6199188" cy="34861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4b964913a5_3_0:notes"/>
          <p:cNvSpPr txBox="1">
            <a:spLocks noGrp="1"/>
          </p:cNvSpPr>
          <p:nvPr>
            <p:ph type="body" idx="1"/>
          </p:nvPr>
        </p:nvSpPr>
        <p:spPr>
          <a:xfrm>
            <a:off x="701040" y="4415790"/>
            <a:ext cx="5608320" cy="4183380"/>
          </a:xfrm>
          <a:prstGeom prst="rect">
            <a:avLst/>
          </a:prstGeom>
        </p:spPr>
        <p:txBody>
          <a:bodyPr spcFirstLastPara="1" wrap="square" lIns="93162" tIns="93162" rIns="93162" bIns="93162"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0"/>
              </a:spcBef>
              <a:spcAft>
                <a:spcPts val="0"/>
              </a:spcAft>
              <a:buClr>
                <a:schemeClr val="lt1"/>
              </a:buClr>
              <a:buSzPts val="1200"/>
              <a:buChar char="○"/>
              <a:defRPr sz="1200">
                <a:solidFill>
                  <a:schemeClr val="lt1"/>
                </a:solidFill>
              </a:defRPr>
            </a:lvl2pPr>
            <a:lvl3pPr marL="1371600" lvl="2" indent="-304800">
              <a:spcBef>
                <a:spcPts val="0"/>
              </a:spcBef>
              <a:spcAft>
                <a:spcPts val="0"/>
              </a:spcAft>
              <a:buClr>
                <a:schemeClr val="lt1"/>
              </a:buClr>
              <a:buSzPts val="1200"/>
              <a:buChar char="■"/>
              <a:defRPr sz="1200">
                <a:solidFill>
                  <a:schemeClr val="lt1"/>
                </a:solidFill>
              </a:defRPr>
            </a:lvl3pPr>
            <a:lvl4pPr marL="1828800" lvl="3" indent="-304800">
              <a:spcBef>
                <a:spcPts val="0"/>
              </a:spcBef>
              <a:spcAft>
                <a:spcPts val="0"/>
              </a:spcAft>
              <a:buClr>
                <a:schemeClr val="lt1"/>
              </a:buClr>
              <a:buSzPts val="1200"/>
              <a:buChar char="●"/>
              <a:defRPr sz="1200">
                <a:solidFill>
                  <a:schemeClr val="lt1"/>
                </a:solidFill>
              </a:defRPr>
            </a:lvl4pPr>
            <a:lvl5pPr marL="2286000" lvl="4" indent="-304800">
              <a:spcBef>
                <a:spcPts val="0"/>
              </a:spcBef>
              <a:spcAft>
                <a:spcPts val="0"/>
              </a:spcAft>
              <a:buClr>
                <a:schemeClr val="lt1"/>
              </a:buClr>
              <a:buSzPts val="1200"/>
              <a:buChar char="○"/>
              <a:defRPr sz="1200">
                <a:solidFill>
                  <a:schemeClr val="lt1"/>
                </a:solidFill>
              </a:defRPr>
            </a:lvl5pPr>
            <a:lvl6pPr marL="2743200" lvl="5" indent="-304800">
              <a:spcBef>
                <a:spcPts val="0"/>
              </a:spcBef>
              <a:spcAft>
                <a:spcPts val="0"/>
              </a:spcAft>
              <a:buClr>
                <a:schemeClr val="lt1"/>
              </a:buClr>
              <a:buSzPts val="1200"/>
              <a:buChar char="■"/>
              <a:defRPr sz="1200">
                <a:solidFill>
                  <a:schemeClr val="lt1"/>
                </a:solidFill>
              </a:defRPr>
            </a:lvl6pPr>
            <a:lvl7pPr marL="3200400" lvl="6" indent="-304800">
              <a:spcBef>
                <a:spcPts val="0"/>
              </a:spcBef>
              <a:spcAft>
                <a:spcPts val="0"/>
              </a:spcAft>
              <a:buClr>
                <a:schemeClr val="lt1"/>
              </a:buClr>
              <a:buSzPts val="1200"/>
              <a:buChar char="●"/>
              <a:defRPr sz="1200">
                <a:solidFill>
                  <a:schemeClr val="lt1"/>
                </a:solidFill>
              </a:defRPr>
            </a:lvl7pPr>
            <a:lvl8pPr marL="3657600" lvl="7" indent="-304800">
              <a:spcBef>
                <a:spcPts val="0"/>
              </a:spcBef>
              <a:spcAft>
                <a:spcPts val="0"/>
              </a:spcAft>
              <a:buClr>
                <a:schemeClr val="lt1"/>
              </a:buClr>
              <a:buSzPts val="1200"/>
              <a:buChar char="○"/>
              <a:defRPr sz="1200">
                <a:solidFill>
                  <a:schemeClr val="lt1"/>
                </a:solidFill>
              </a:defRPr>
            </a:lvl8pPr>
            <a:lvl9pPr marL="4114800" lvl="8" indent="-304800">
              <a:spcBef>
                <a:spcPts val="0"/>
              </a:spcBef>
              <a:spcAft>
                <a:spcPts val="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251700" y="2367825"/>
            <a:ext cx="4606200" cy="93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SzPts val="990"/>
              <a:buNone/>
            </a:pPr>
            <a:r>
              <a:rPr lang="en" sz="4520">
                <a:latin typeface="Lilita One"/>
                <a:ea typeface="Lilita One"/>
                <a:cs typeface="Lilita One"/>
                <a:sym typeface="Lilita One"/>
              </a:rPr>
              <a:t>Global Trends in Temperature, Water Level, and CO2 Emissions</a:t>
            </a:r>
            <a:endParaRPr sz="4520">
              <a:latin typeface="Lilita One"/>
              <a:ea typeface="Lilita One"/>
              <a:cs typeface="Lilita One"/>
              <a:sym typeface="Lilita One"/>
            </a:endParaRPr>
          </a:p>
        </p:txBody>
      </p:sp>
      <p:sp>
        <p:nvSpPr>
          <p:cNvPr id="68" name="Google Shape;68;p13"/>
          <p:cNvSpPr txBox="1">
            <a:spLocks noGrp="1"/>
          </p:cNvSpPr>
          <p:nvPr>
            <p:ph type="subTitle" idx="1"/>
          </p:nvPr>
        </p:nvSpPr>
        <p:spPr>
          <a:xfrm>
            <a:off x="311700" y="3245600"/>
            <a:ext cx="3443100" cy="17865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1900"/>
              <a:t>- Gabriela Aparcana Contreras</a:t>
            </a:r>
            <a:endParaRPr sz="1900"/>
          </a:p>
          <a:p>
            <a:pPr marL="0" lvl="0" indent="0" algn="l" rtl="0">
              <a:lnSpc>
                <a:spcPct val="115000"/>
              </a:lnSpc>
              <a:spcBef>
                <a:spcPts val="0"/>
              </a:spcBef>
              <a:spcAft>
                <a:spcPts val="0"/>
              </a:spcAft>
              <a:buNone/>
            </a:pPr>
            <a:r>
              <a:rPr lang="en" sz="1900"/>
              <a:t>- Jake Altom</a:t>
            </a:r>
            <a:endParaRPr sz="1900"/>
          </a:p>
          <a:p>
            <a:pPr marL="0" lvl="0" indent="0" algn="l" rtl="0">
              <a:lnSpc>
                <a:spcPct val="115000"/>
              </a:lnSpc>
              <a:spcBef>
                <a:spcPts val="0"/>
              </a:spcBef>
              <a:spcAft>
                <a:spcPts val="0"/>
              </a:spcAft>
              <a:buNone/>
            </a:pPr>
            <a:r>
              <a:rPr lang="en" sz="1900"/>
              <a:t>- Kaden Evans</a:t>
            </a:r>
            <a:endParaRPr sz="1900"/>
          </a:p>
          <a:p>
            <a:pPr marL="0" lvl="0" indent="0" algn="l" rtl="0">
              <a:lnSpc>
                <a:spcPct val="115000"/>
              </a:lnSpc>
              <a:spcBef>
                <a:spcPts val="0"/>
              </a:spcBef>
              <a:spcAft>
                <a:spcPts val="0"/>
              </a:spcAft>
              <a:buNone/>
            </a:pPr>
            <a:r>
              <a:rPr lang="en" sz="1900"/>
              <a:t>- Luke Nobrega</a:t>
            </a:r>
            <a:endParaRPr sz="3700"/>
          </a:p>
        </p:txBody>
      </p:sp>
      <p:pic>
        <p:nvPicPr>
          <p:cNvPr id="69" name="Google Shape;69;p13"/>
          <p:cNvPicPr preferRelativeResize="0"/>
          <p:nvPr/>
        </p:nvPicPr>
        <p:blipFill>
          <a:blip r:embed="rId3">
            <a:alphaModFix/>
          </a:blip>
          <a:stretch>
            <a:fillRect/>
          </a:stretch>
        </p:blipFill>
        <p:spPr>
          <a:xfrm>
            <a:off x="4761700" y="528337"/>
            <a:ext cx="1757650" cy="2266275"/>
          </a:xfrm>
          <a:prstGeom prst="rect">
            <a:avLst/>
          </a:prstGeom>
          <a:noFill/>
          <a:ln w="28575" cap="flat" cmpd="sng">
            <a:solidFill>
              <a:schemeClr val="lt1"/>
            </a:solidFill>
            <a:prstDash val="solid"/>
            <a:round/>
            <a:headEnd type="none" w="sm" len="sm"/>
            <a:tailEnd type="none" w="sm" len="sm"/>
          </a:ln>
        </p:spPr>
      </p:pic>
      <p:pic>
        <p:nvPicPr>
          <p:cNvPr id="70" name="Google Shape;70;p13"/>
          <p:cNvPicPr preferRelativeResize="0"/>
          <p:nvPr/>
        </p:nvPicPr>
        <p:blipFill>
          <a:blip r:embed="rId4">
            <a:alphaModFix/>
          </a:blip>
          <a:stretch>
            <a:fillRect/>
          </a:stretch>
        </p:blipFill>
        <p:spPr>
          <a:xfrm>
            <a:off x="6699075" y="1284325"/>
            <a:ext cx="2265449" cy="1510300"/>
          </a:xfrm>
          <a:prstGeom prst="rect">
            <a:avLst/>
          </a:prstGeom>
          <a:noFill/>
          <a:ln w="28575" cap="flat" cmpd="sng">
            <a:solidFill>
              <a:srgbClr val="202122"/>
            </a:solidFill>
            <a:prstDash val="solid"/>
            <a:round/>
            <a:headEnd type="none" w="sm" len="sm"/>
            <a:tailEnd type="none" w="sm" len="sm"/>
          </a:ln>
        </p:spPr>
      </p:pic>
      <p:pic>
        <p:nvPicPr>
          <p:cNvPr id="71" name="Google Shape;71;p13"/>
          <p:cNvPicPr preferRelativeResize="0"/>
          <p:nvPr/>
        </p:nvPicPr>
        <p:blipFill rotWithShape="1">
          <a:blip r:embed="rId5">
            <a:alphaModFix/>
          </a:blip>
          <a:srcRect t="17956" b="18052"/>
          <a:stretch/>
        </p:blipFill>
        <p:spPr>
          <a:xfrm>
            <a:off x="5064475" y="2991800"/>
            <a:ext cx="3094551" cy="1320174"/>
          </a:xfrm>
          <a:prstGeom prst="rect">
            <a:avLst/>
          </a:prstGeom>
          <a:noFill/>
          <a:ln w="28575" cap="flat" cmpd="sng">
            <a:solidFill>
              <a:srgbClr val="202122"/>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latin typeface="Lilita One"/>
                <a:ea typeface="Lilita One"/>
                <a:cs typeface="Lilita One"/>
                <a:sym typeface="Lilita One"/>
              </a:rPr>
              <a:t>What information we were looking for →</a:t>
            </a:r>
            <a:endParaRPr>
              <a:latin typeface="Lilita One"/>
              <a:ea typeface="Lilita One"/>
              <a:cs typeface="Lilita One"/>
              <a:sym typeface="Lilita One"/>
            </a:endParaRPr>
          </a:p>
        </p:txBody>
      </p:sp>
      <p:sp>
        <p:nvSpPr>
          <p:cNvPr id="77" name="Google Shape;77;p14"/>
          <p:cNvSpPr txBox="1">
            <a:spLocks noGrp="1"/>
          </p:cNvSpPr>
          <p:nvPr>
            <p:ph type="body" idx="1"/>
          </p:nvPr>
        </p:nvSpPr>
        <p:spPr>
          <a:xfrm>
            <a:off x="201800" y="1887725"/>
            <a:ext cx="2724600" cy="2710200"/>
          </a:xfrm>
          <a:prstGeom prst="rect">
            <a:avLst/>
          </a:prstGeom>
        </p:spPr>
        <p:txBody>
          <a:bodyPr spcFirstLastPara="1" wrap="square" lIns="91425" tIns="91425" rIns="91425" bIns="91425" anchor="t" anchorCtr="0">
            <a:noAutofit/>
          </a:bodyPr>
          <a:lstStyle/>
          <a:p>
            <a:pPr marL="457200" lvl="0" indent="0" algn="l" rtl="0">
              <a:lnSpc>
                <a:spcPct val="95000"/>
              </a:lnSpc>
              <a:spcBef>
                <a:spcPts val="0"/>
              </a:spcBef>
              <a:spcAft>
                <a:spcPts val="0"/>
              </a:spcAft>
              <a:buNone/>
            </a:pPr>
            <a:r>
              <a:rPr lang="en" b="1">
                <a:latin typeface="Libre Baskerville"/>
                <a:ea typeface="Libre Baskerville"/>
                <a:cs typeface="Libre Baskerville"/>
                <a:sym typeface="Libre Baskerville"/>
              </a:rPr>
              <a:t>Countries</a:t>
            </a:r>
            <a:r>
              <a:rPr lang="en">
                <a:latin typeface="Libre Baskerville"/>
                <a:ea typeface="Libre Baskerville"/>
                <a:cs typeface="Libre Baskerville"/>
                <a:sym typeface="Libre Baskerville"/>
              </a:rPr>
              <a:t>:</a:t>
            </a:r>
            <a:endParaRPr>
              <a:latin typeface="Libre Baskerville"/>
              <a:ea typeface="Libre Baskerville"/>
              <a:cs typeface="Libre Baskerville"/>
              <a:sym typeface="Libre Baskerville"/>
            </a:endParaRPr>
          </a:p>
          <a:p>
            <a:pPr marL="457200" lvl="0" indent="-334328" algn="l" rtl="0">
              <a:lnSpc>
                <a:spcPct val="95000"/>
              </a:lnSpc>
              <a:spcBef>
                <a:spcPts val="1200"/>
              </a:spcBef>
              <a:spcAft>
                <a:spcPts val="0"/>
              </a:spcAft>
              <a:buSzPts val="1665"/>
              <a:buChar char="●"/>
            </a:pPr>
            <a:r>
              <a:rPr lang="en" sz="1665"/>
              <a:t>USA</a:t>
            </a:r>
            <a:endParaRPr sz="1665"/>
          </a:p>
          <a:p>
            <a:pPr marL="457200" lvl="0" indent="-334328" algn="l" rtl="0">
              <a:lnSpc>
                <a:spcPct val="95000"/>
              </a:lnSpc>
              <a:spcBef>
                <a:spcPts val="0"/>
              </a:spcBef>
              <a:spcAft>
                <a:spcPts val="0"/>
              </a:spcAft>
              <a:buSzPts val="1665"/>
              <a:buChar char="●"/>
            </a:pPr>
            <a:r>
              <a:rPr lang="en" sz="1665"/>
              <a:t>China</a:t>
            </a:r>
            <a:endParaRPr sz="1665"/>
          </a:p>
          <a:p>
            <a:pPr marL="457200" lvl="0" indent="-334328" algn="l" rtl="0">
              <a:lnSpc>
                <a:spcPct val="95000"/>
              </a:lnSpc>
              <a:spcBef>
                <a:spcPts val="0"/>
              </a:spcBef>
              <a:spcAft>
                <a:spcPts val="0"/>
              </a:spcAft>
              <a:buSzPts val="1665"/>
              <a:buChar char="●"/>
            </a:pPr>
            <a:r>
              <a:rPr lang="en" sz="1665"/>
              <a:t>France</a:t>
            </a:r>
            <a:endParaRPr sz="1665"/>
          </a:p>
          <a:p>
            <a:pPr marL="457200" lvl="0" indent="-334328" algn="l" rtl="0">
              <a:lnSpc>
                <a:spcPct val="95000"/>
              </a:lnSpc>
              <a:spcBef>
                <a:spcPts val="0"/>
              </a:spcBef>
              <a:spcAft>
                <a:spcPts val="0"/>
              </a:spcAft>
              <a:buSzPts val="1665"/>
              <a:buChar char="●"/>
            </a:pPr>
            <a:r>
              <a:rPr lang="en" sz="1665"/>
              <a:t>Italy</a:t>
            </a:r>
            <a:endParaRPr sz="1665"/>
          </a:p>
          <a:p>
            <a:pPr marL="457200" lvl="0" indent="-334328" algn="l" rtl="0">
              <a:lnSpc>
                <a:spcPct val="95000"/>
              </a:lnSpc>
              <a:spcBef>
                <a:spcPts val="0"/>
              </a:spcBef>
              <a:spcAft>
                <a:spcPts val="0"/>
              </a:spcAft>
              <a:buSzPts val="1665"/>
              <a:buChar char="●"/>
            </a:pPr>
            <a:r>
              <a:rPr lang="en" sz="1665"/>
              <a:t>Germany</a:t>
            </a:r>
            <a:endParaRPr sz="1665"/>
          </a:p>
          <a:p>
            <a:pPr marL="457200" lvl="0" indent="-334328" algn="l" rtl="0">
              <a:lnSpc>
                <a:spcPct val="95000"/>
              </a:lnSpc>
              <a:spcBef>
                <a:spcPts val="0"/>
              </a:spcBef>
              <a:spcAft>
                <a:spcPts val="0"/>
              </a:spcAft>
              <a:buSzPts val="1665"/>
              <a:buChar char="●"/>
            </a:pPr>
            <a:r>
              <a:rPr lang="en" sz="1665"/>
              <a:t>Turkey</a:t>
            </a:r>
            <a:endParaRPr sz="1665"/>
          </a:p>
          <a:p>
            <a:pPr marL="457200" lvl="0" indent="-334328" algn="l" rtl="0">
              <a:lnSpc>
                <a:spcPct val="95000"/>
              </a:lnSpc>
              <a:spcBef>
                <a:spcPts val="0"/>
              </a:spcBef>
              <a:spcAft>
                <a:spcPts val="0"/>
              </a:spcAft>
              <a:buSzPts val="1665"/>
              <a:buChar char="●"/>
            </a:pPr>
            <a:r>
              <a:rPr lang="en" sz="1665"/>
              <a:t>India</a:t>
            </a:r>
            <a:endParaRPr sz="1665"/>
          </a:p>
          <a:p>
            <a:pPr marL="457200" lvl="0" indent="-334328" algn="l" rtl="0">
              <a:lnSpc>
                <a:spcPct val="95000"/>
              </a:lnSpc>
              <a:spcBef>
                <a:spcPts val="0"/>
              </a:spcBef>
              <a:spcAft>
                <a:spcPts val="0"/>
              </a:spcAft>
              <a:buSzPts val="1665"/>
              <a:buChar char="●"/>
            </a:pPr>
            <a:r>
              <a:rPr lang="en" sz="1665"/>
              <a:t>Brazil</a:t>
            </a:r>
            <a:endParaRPr sz="1665"/>
          </a:p>
          <a:p>
            <a:pPr marL="457200" lvl="0" indent="-334328" algn="l" rtl="0">
              <a:lnSpc>
                <a:spcPct val="95000"/>
              </a:lnSpc>
              <a:spcBef>
                <a:spcPts val="0"/>
              </a:spcBef>
              <a:spcAft>
                <a:spcPts val="0"/>
              </a:spcAft>
              <a:buSzPts val="1665"/>
              <a:buChar char="●"/>
            </a:pPr>
            <a:r>
              <a:rPr lang="en" sz="1665"/>
              <a:t>Sweden</a:t>
            </a:r>
            <a:endParaRPr sz="1665"/>
          </a:p>
          <a:p>
            <a:pPr marL="457200" lvl="0" indent="-334328" algn="l" rtl="0">
              <a:lnSpc>
                <a:spcPct val="95000"/>
              </a:lnSpc>
              <a:spcBef>
                <a:spcPts val="0"/>
              </a:spcBef>
              <a:spcAft>
                <a:spcPts val="0"/>
              </a:spcAft>
              <a:buSzPts val="1665"/>
              <a:buChar char="●"/>
            </a:pPr>
            <a:r>
              <a:rPr lang="en" sz="1665"/>
              <a:t>Egypt</a:t>
            </a:r>
            <a:endParaRPr sz="1665"/>
          </a:p>
        </p:txBody>
      </p:sp>
      <p:sp>
        <p:nvSpPr>
          <p:cNvPr id="78" name="Google Shape;78;p14"/>
          <p:cNvSpPr txBox="1"/>
          <p:nvPr/>
        </p:nvSpPr>
        <p:spPr>
          <a:xfrm>
            <a:off x="2531825" y="1887725"/>
            <a:ext cx="1737900" cy="1021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Libre Baskerville"/>
                <a:ea typeface="Libre Baskerville"/>
                <a:cs typeface="Libre Baskerville"/>
                <a:sym typeface="Libre Baskerville"/>
              </a:rPr>
              <a:t>Years:</a:t>
            </a:r>
            <a:r>
              <a:rPr lang="en" sz="1800">
                <a:solidFill>
                  <a:schemeClr val="lt2"/>
                </a:solidFill>
                <a:latin typeface="Roboto"/>
                <a:ea typeface="Roboto"/>
                <a:cs typeface="Roboto"/>
                <a:sym typeface="Roboto"/>
              </a:rPr>
              <a:t> </a:t>
            </a:r>
            <a:endParaRPr sz="1800">
              <a:solidFill>
                <a:schemeClr val="lt2"/>
              </a:solidFill>
              <a:latin typeface="Roboto"/>
              <a:ea typeface="Roboto"/>
              <a:cs typeface="Roboto"/>
              <a:sym typeface="Roboto"/>
            </a:endParaRPr>
          </a:p>
          <a:p>
            <a:pPr marL="0" lvl="0" indent="0" algn="l" rtl="0">
              <a:spcBef>
                <a:spcPts val="0"/>
              </a:spcBef>
              <a:spcAft>
                <a:spcPts val="0"/>
              </a:spcAft>
              <a:buNone/>
            </a:pPr>
            <a:r>
              <a:rPr lang="en" sz="1650">
                <a:solidFill>
                  <a:schemeClr val="lt2"/>
                </a:solidFill>
                <a:latin typeface="Roboto"/>
                <a:ea typeface="Roboto"/>
                <a:cs typeface="Roboto"/>
                <a:sym typeface="Roboto"/>
              </a:rPr>
              <a:t>1993-2021</a:t>
            </a:r>
            <a:endParaRPr sz="1650">
              <a:solidFill>
                <a:schemeClr val="lt2"/>
              </a:solidFill>
              <a:latin typeface="Roboto"/>
              <a:ea typeface="Roboto"/>
              <a:cs typeface="Roboto"/>
              <a:sym typeface="Roboto"/>
            </a:endParaRPr>
          </a:p>
        </p:txBody>
      </p:sp>
      <p:sp>
        <p:nvSpPr>
          <p:cNvPr id="79" name="Google Shape;79;p14"/>
          <p:cNvSpPr txBox="1"/>
          <p:nvPr/>
        </p:nvSpPr>
        <p:spPr>
          <a:xfrm>
            <a:off x="2531825" y="2647250"/>
            <a:ext cx="2941800" cy="173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lt2"/>
                </a:solidFill>
                <a:latin typeface="Libre Baskerville"/>
                <a:ea typeface="Libre Baskerville"/>
                <a:cs typeface="Libre Baskerville"/>
                <a:sym typeface="Libre Baskerville"/>
              </a:rPr>
              <a:t>Data:</a:t>
            </a:r>
            <a:endParaRPr sz="1800" b="1">
              <a:solidFill>
                <a:schemeClr val="lt2"/>
              </a:solidFill>
              <a:latin typeface="Libre Baskerville"/>
              <a:ea typeface="Libre Baskerville"/>
              <a:cs typeface="Libre Baskerville"/>
              <a:sym typeface="Libre Baskerville"/>
            </a:endParaRPr>
          </a:p>
          <a:p>
            <a:pPr marL="457200" lvl="0" indent="-333375" algn="l" rtl="0">
              <a:spcBef>
                <a:spcPts val="0"/>
              </a:spcBef>
              <a:spcAft>
                <a:spcPts val="0"/>
              </a:spcAft>
              <a:buClr>
                <a:schemeClr val="lt2"/>
              </a:buClr>
              <a:buSzPts val="1650"/>
              <a:buFont typeface="Roboto"/>
              <a:buChar char="●"/>
            </a:pPr>
            <a:r>
              <a:rPr lang="en" sz="1650">
                <a:solidFill>
                  <a:schemeClr val="lt2"/>
                </a:solidFill>
                <a:latin typeface="Roboto"/>
                <a:ea typeface="Roboto"/>
                <a:cs typeface="Roboto"/>
                <a:sym typeface="Roboto"/>
              </a:rPr>
              <a:t>Temperature change</a:t>
            </a:r>
            <a:endParaRPr sz="1650">
              <a:solidFill>
                <a:schemeClr val="lt2"/>
              </a:solidFill>
              <a:latin typeface="Roboto"/>
              <a:ea typeface="Roboto"/>
              <a:cs typeface="Roboto"/>
              <a:sym typeface="Roboto"/>
            </a:endParaRPr>
          </a:p>
          <a:p>
            <a:pPr marL="457200" lvl="0" indent="-333375" algn="l" rtl="0">
              <a:spcBef>
                <a:spcPts val="0"/>
              </a:spcBef>
              <a:spcAft>
                <a:spcPts val="0"/>
              </a:spcAft>
              <a:buClr>
                <a:schemeClr val="lt2"/>
              </a:buClr>
              <a:buSzPts val="1650"/>
              <a:buFont typeface="Roboto"/>
              <a:buChar char="●"/>
            </a:pPr>
            <a:r>
              <a:rPr lang="en" sz="1650">
                <a:solidFill>
                  <a:schemeClr val="lt2"/>
                </a:solidFill>
                <a:latin typeface="Roboto"/>
                <a:ea typeface="Roboto"/>
                <a:cs typeface="Roboto"/>
                <a:sym typeface="Roboto"/>
              </a:rPr>
              <a:t>CO2 emissions</a:t>
            </a:r>
            <a:endParaRPr sz="1650">
              <a:solidFill>
                <a:schemeClr val="lt2"/>
              </a:solidFill>
              <a:latin typeface="Roboto"/>
              <a:ea typeface="Roboto"/>
              <a:cs typeface="Roboto"/>
              <a:sym typeface="Roboto"/>
            </a:endParaRPr>
          </a:p>
          <a:p>
            <a:pPr marL="457200" lvl="0" indent="-333375" algn="l" rtl="0">
              <a:spcBef>
                <a:spcPts val="0"/>
              </a:spcBef>
              <a:spcAft>
                <a:spcPts val="0"/>
              </a:spcAft>
              <a:buClr>
                <a:schemeClr val="lt2"/>
              </a:buClr>
              <a:buSzPts val="1650"/>
              <a:buFont typeface="Roboto"/>
              <a:buChar char="●"/>
            </a:pPr>
            <a:r>
              <a:rPr lang="en" sz="1650">
                <a:solidFill>
                  <a:schemeClr val="lt2"/>
                </a:solidFill>
                <a:latin typeface="Roboto"/>
                <a:ea typeface="Roboto"/>
                <a:cs typeface="Roboto"/>
                <a:sym typeface="Roboto"/>
              </a:rPr>
              <a:t>Global Sea level</a:t>
            </a:r>
            <a:endParaRPr sz="1650">
              <a:solidFill>
                <a:schemeClr val="lt2"/>
              </a:solidFill>
              <a:latin typeface="Roboto"/>
              <a:ea typeface="Roboto"/>
              <a:cs typeface="Roboto"/>
              <a:sym typeface="Roboto"/>
            </a:endParaRPr>
          </a:p>
        </p:txBody>
      </p:sp>
      <p:pic>
        <p:nvPicPr>
          <p:cNvPr id="80" name="Google Shape;80;p14"/>
          <p:cNvPicPr preferRelativeResize="0"/>
          <p:nvPr/>
        </p:nvPicPr>
        <p:blipFill>
          <a:blip r:embed="rId3">
            <a:alphaModFix/>
          </a:blip>
          <a:stretch>
            <a:fillRect/>
          </a:stretch>
        </p:blipFill>
        <p:spPr>
          <a:xfrm>
            <a:off x="5542200" y="2303900"/>
            <a:ext cx="3202698" cy="2076750"/>
          </a:xfrm>
          <a:prstGeom prst="rect">
            <a:avLst/>
          </a:prstGeom>
          <a:noFill/>
          <a:ln w="28575" cap="flat" cmpd="sng">
            <a:solidFill>
              <a:schemeClr val="dk2"/>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Overview of Global Climate Change</a:t>
            </a:r>
            <a:endParaRPr/>
          </a:p>
        </p:txBody>
      </p:sp>
      <p:sp>
        <p:nvSpPr>
          <p:cNvPr id="86" name="Google Shape;86;p15"/>
          <p:cNvSpPr txBox="1">
            <a:spLocks noGrp="1"/>
          </p:cNvSpPr>
          <p:nvPr>
            <p:ph type="body" idx="1"/>
          </p:nvPr>
        </p:nvSpPr>
        <p:spPr>
          <a:xfrm>
            <a:off x="117425" y="1731175"/>
            <a:ext cx="3781500" cy="2136900"/>
          </a:xfrm>
          <a:prstGeom prst="rect">
            <a:avLst/>
          </a:prstGeom>
        </p:spPr>
        <p:txBody>
          <a:bodyPr spcFirstLastPara="1" wrap="square" lIns="91425" tIns="91425" rIns="91425" bIns="91425" anchor="t" anchorCtr="0">
            <a:normAutofit/>
          </a:bodyPr>
          <a:lstStyle/>
          <a:p>
            <a:pPr marL="0" lvl="0" indent="0" algn="l" rtl="0">
              <a:lnSpc>
                <a:spcPct val="95000"/>
              </a:lnSpc>
              <a:spcBef>
                <a:spcPts val="0"/>
              </a:spcBef>
              <a:spcAft>
                <a:spcPts val="1200"/>
              </a:spcAft>
              <a:buNone/>
            </a:pPr>
            <a:r>
              <a:rPr lang="en" sz="1400"/>
              <a:t>Global climate change refers to long-term shifts in temperatures and weather patterns, largely driven by human activities—especially the burning of fossil fuels like coal, oil, and gas. These activities increase greenhouse gases in the atmosphere, trapping heat and warming the planet.</a:t>
            </a:r>
            <a:endParaRPr sz="1400"/>
          </a:p>
        </p:txBody>
      </p:sp>
      <p:sp>
        <p:nvSpPr>
          <p:cNvPr id="87" name="Google Shape;87;p15"/>
          <p:cNvSpPr txBox="1"/>
          <p:nvPr/>
        </p:nvSpPr>
        <p:spPr>
          <a:xfrm>
            <a:off x="47075" y="3269275"/>
            <a:ext cx="3922200" cy="197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900" b="1"/>
              <a:t>Main Causes:</a:t>
            </a:r>
            <a:endParaRPr sz="900" b="1"/>
          </a:p>
          <a:p>
            <a:pPr marL="457200" lvl="0" indent="-285750" algn="l" rtl="0">
              <a:lnSpc>
                <a:spcPct val="115000"/>
              </a:lnSpc>
              <a:spcBef>
                <a:spcPts val="1200"/>
              </a:spcBef>
              <a:spcAft>
                <a:spcPts val="0"/>
              </a:spcAft>
              <a:buSzPts val="900"/>
              <a:buChar char="●"/>
            </a:pPr>
            <a:r>
              <a:rPr lang="en" sz="900" b="1"/>
              <a:t>Carbon dioxide (CO₂)</a:t>
            </a:r>
            <a:r>
              <a:rPr lang="en" sz="900"/>
              <a:t> from fossil fuel combustion</a:t>
            </a:r>
            <a:br>
              <a:rPr lang="en" sz="900"/>
            </a:br>
            <a:endParaRPr sz="900"/>
          </a:p>
          <a:p>
            <a:pPr marL="457200" lvl="0" indent="-285750" algn="l" rtl="0">
              <a:lnSpc>
                <a:spcPct val="115000"/>
              </a:lnSpc>
              <a:spcBef>
                <a:spcPts val="0"/>
              </a:spcBef>
              <a:spcAft>
                <a:spcPts val="0"/>
              </a:spcAft>
              <a:buSzPts val="900"/>
              <a:buChar char="●"/>
            </a:pPr>
            <a:r>
              <a:rPr lang="en" sz="900" b="1"/>
              <a:t>Methane (CH₄)</a:t>
            </a:r>
            <a:r>
              <a:rPr lang="en" sz="900"/>
              <a:t> from agriculture and landfills</a:t>
            </a:r>
            <a:br>
              <a:rPr lang="en" sz="900"/>
            </a:br>
            <a:endParaRPr sz="900"/>
          </a:p>
          <a:p>
            <a:pPr marL="457200" lvl="0" indent="-285750" algn="l" rtl="0">
              <a:lnSpc>
                <a:spcPct val="115000"/>
              </a:lnSpc>
              <a:spcBef>
                <a:spcPts val="0"/>
              </a:spcBef>
              <a:spcAft>
                <a:spcPts val="0"/>
              </a:spcAft>
              <a:buSzPts val="900"/>
              <a:buChar char="●"/>
            </a:pPr>
            <a:r>
              <a:rPr lang="en" sz="900" b="1"/>
              <a:t>Deforestation</a:t>
            </a:r>
            <a:r>
              <a:rPr lang="en" sz="900"/>
              <a:t>, reducing Earth's ability to absorb CO₂</a:t>
            </a:r>
            <a:br>
              <a:rPr lang="en" sz="900"/>
            </a:br>
            <a:endParaRPr sz="900"/>
          </a:p>
          <a:p>
            <a:pPr marL="457200" lvl="0" indent="-285750" algn="l" rtl="0">
              <a:lnSpc>
                <a:spcPct val="115000"/>
              </a:lnSpc>
              <a:spcBef>
                <a:spcPts val="0"/>
              </a:spcBef>
              <a:spcAft>
                <a:spcPts val="0"/>
              </a:spcAft>
              <a:buSzPts val="900"/>
              <a:buChar char="●"/>
            </a:pPr>
            <a:r>
              <a:rPr lang="en" sz="900" b="1"/>
              <a:t>Industrial processes</a:t>
            </a:r>
            <a:r>
              <a:rPr lang="en" sz="900"/>
              <a:t> and unsustainable land use</a:t>
            </a:r>
            <a:endParaRPr sz="900"/>
          </a:p>
          <a:p>
            <a:pPr marL="0" lvl="0" indent="0" algn="l" rtl="0">
              <a:spcBef>
                <a:spcPts val="1200"/>
              </a:spcBef>
              <a:spcAft>
                <a:spcPts val="0"/>
              </a:spcAft>
              <a:buNone/>
            </a:pPr>
            <a:endParaRPr sz="1600">
              <a:solidFill>
                <a:schemeClr val="lt2"/>
              </a:solidFill>
              <a:latin typeface="Roboto"/>
              <a:ea typeface="Roboto"/>
              <a:cs typeface="Roboto"/>
              <a:sym typeface="Roboto"/>
            </a:endParaRPr>
          </a:p>
        </p:txBody>
      </p:sp>
      <p:sp>
        <p:nvSpPr>
          <p:cNvPr id="88" name="Google Shape;88;p15"/>
          <p:cNvSpPr txBox="1"/>
          <p:nvPr/>
        </p:nvSpPr>
        <p:spPr>
          <a:xfrm>
            <a:off x="3969275" y="1801400"/>
            <a:ext cx="4698900" cy="295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sz="1100" b="1"/>
              <a:t>Key Impacts:</a:t>
            </a:r>
            <a:endParaRPr sz="1100" b="1"/>
          </a:p>
          <a:p>
            <a:pPr marL="457200" lvl="0" indent="-298450" algn="l" rtl="0">
              <a:lnSpc>
                <a:spcPct val="115000"/>
              </a:lnSpc>
              <a:spcBef>
                <a:spcPts val="1200"/>
              </a:spcBef>
              <a:spcAft>
                <a:spcPts val="0"/>
              </a:spcAft>
              <a:buSzPts val="1100"/>
              <a:buChar char="●"/>
            </a:pPr>
            <a:r>
              <a:rPr lang="en" sz="1100" b="1"/>
              <a:t>Rising global temperatures</a:t>
            </a:r>
            <a:r>
              <a:rPr lang="en" sz="1100"/>
              <a:t> – Earth's average temperature has increased by over 1°C since the late 19th century</a:t>
            </a:r>
            <a:br>
              <a:rPr lang="en" sz="1100"/>
            </a:br>
            <a:endParaRPr sz="1100"/>
          </a:p>
          <a:p>
            <a:pPr marL="457200" lvl="0" indent="-298450" algn="l" rtl="0">
              <a:lnSpc>
                <a:spcPct val="115000"/>
              </a:lnSpc>
              <a:spcBef>
                <a:spcPts val="0"/>
              </a:spcBef>
              <a:spcAft>
                <a:spcPts val="0"/>
              </a:spcAft>
              <a:buSzPts val="1100"/>
              <a:buChar char="●"/>
            </a:pPr>
            <a:r>
              <a:rPr lang="en" sz="1100" b="1"/>
              <a:t>Melting ice caps &amp; rising sea levels</a:t>
            </a:r>
            <a:r>
              <a:rPr lang="en" sz="1100"/>
              <a:t> – Threatening coastal areas and island nations</a:t>
            </a:r>
            <a:br>
              <a:rPr lang="en" sz="1100"/>
            </a:br>
            <a:br>
              <a:rPr lang="en" sz="1100"/>
            </a:br>
            <a:endParaRPr sz="1100"/>
          </a:p>
          <a:p>
            <a:pPr marL="457200" lvl="0" indent="-298450" algn="l" rtl="0">
              <a:lnSpc>
                <a:spcPct val="115000"/>
              </a:lnSpc>
              <a:spcBef>
                <a:spcPts val="0"/>
              </a:spcBef>
              <a:spcAft>
                <a:spcPts val="0"/>
              </a:spcAft>
              <a:buSzPts val="1100"/>
              <a:buChar char="●"/>
            </a:pPr>
            <a:r>
              <a:rPr lang="en" sz="1100" b="1"/>
              <a:t>Ecosystem disruption</a:t>
            </a:r>
            <a:r>
              <a:rPr lang="en" sz="1100"/>
              <a:t> – Endangering biodiversity and altering habitats</a:t>
            </a:r>
            <a:br>
              <a:rPr lang="en" sz="1100"/>
            </a:br>
            <a:endParaRPr sz="1100"/>
          </a:p>
          <a:p>
            <a:pPr marL="457200" lvl="0" indent="-298450" algn="l" rtl="0">
              <a:lnSpc>
                <a:spcPct val="115000"/>
              </a:lnSpc>
              <a:spcBef>
                <a:spcPts val="0"/>
              </a:spcBef>
              <a:spcAft>
                <a:spcPts val="0"/>
              </a:spcAft>
              <a:buSzPts val="1100"/>
              <a:buChar char="●"/>
            </a:pPr>
            <a:r>
              <a:rPr lang="en" sz="1100" b="1"/>
              <a:t>Human health &amp; economy</a:t>
            </a:r>
            <a:r>
              <a:rPr lang="en" sz="1100"/>
              <a:t> – Increases in heat-related illnesses, food insecurity, and economic losses</a:t>
            </a:r>
            <a:endParaRPr sz="1100"/>
          </a:p>
          <a:p>
            <a:pPr marL="0" lvl="0" indent="0" algn="l" rtl="0">
              <a:spcBef>
                <a:spcPts val="1200"/>
              </a:spcBef>
              <a:spcAft>
                <a:spcPts val="0"/>
              </a:spcAft>
              <a:buNone/>
            </a:pPr>
            <a:endParaRPr sz="1800">
              <a:solidFill>
                <a:schemeClr val="l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1 – Temperature Change</a:t>
            </a:r>
            <a:endParaRPr/>
          </a:p>
        </p:txBody>
      </p:sp>
      <p:sp>
        <p:nvSpPr>
          <p:cNvPr id="94" name="Google Shape;94;p16"/>
          <p:cNvSpPr txBox="1">
            <a:spLocks noGrp="1"/>
          </p:cNvSpPr>
          <p:nvPr>
            <p:ph type="body" idx="1"/>
          </p:nvPr>
        </p:nvSpPr>
        <p:spPr>
          <a:xfrm>
            <a:off x="300050" y="1919075"/>
            <a:ext cx="8606700" cy="30702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500" dirty="0"/>
              <a:t>We found this dataset on kaggle.com. It contains the average temperature for every month of every year for every country from 1961 to 2023. We filtered the dataset for our target countries and years. </a:t>
            </a:r>
            <a:endParaRPr sz="1500" dirty="0"/>
          </a:p>
          <a:p>
            <a:pPr marL="0" lvl="0" indent="0" algn="l" rtl="0">
              <a:spcBef>
                <a:spcPts val="1200"/>
              </a:spcBef>
              <a:spcAft>
                <a:spcPts val="0"/>
              </a:spcAft>
              <a:buNone/>
            </a:pPr>
            <a:r>
              <a:rPr lang="en" sz="1500" dirty="0"/>
              <a:t>This is a summary of what we found: 🔍</a:t>
            </a:r>
            <a:r>
              <a:rPr lang="en" sz="1500" b="1" dirty="0"/>
              <a:t>KEY INSIGHTS</a:t>
            </a:r>
            <a:r>
              <a:rPr lang="en" sz="1500" dirty="0"/>
              <a:t> (1993–2021):</a:t>
            </a:r>
            <a:endParaRPr lang="en-US" sz="1500" dirty="0"/>
          </a:p>
          <a:p>
            <a:pPr marL="0" lvl="0" indent="0" algn="l" rtl="0">
              <a:spcBef>
                <a:spcPts val="1200"/>
              </a:spcBef>
              <a:spcAft>
                <a:spcPts val="0"/>
              </a:spcAft>
              <a:buNone/>
            </a:pPr>
            <a:r>
              <a:rPr lang="en-US" sz="1500" dirty="0"/>
              <a:t>Highest average temperature change: Germany (1.32°C) (2.38°F)</a:t>
            </a:r>
          </a:p>
          <a:p>
            <a:pPr marL="0" lvl="0" indent="0" algn="l" rtl="0">
              <a:spcBef>
                <a:spcPts val="1200"/>
              </a:spcBef>
              <a:spcAft>
                <a:spcPts val="0"/>
              </a:spcAft>
              <a:buNone/>
            </a:pPr>
            <a:r>
              <a:rPr lang="en" sz="1500" dirty="0"/>
              <a:t>Lowest average temperature change: India (0.47°C) (0.85°C)</a:t>
            </a:r>
          </a:p>
          <a:p>
            <a:pPr marL="0" lvl="0" indent="0" algn="l" rtl="0">
              <a:spcBef>
                <a:spcPts val="1200"/>
              </a:spcBef>
              <a:spcAft>
                <a:spcPts val="0"/>
              </a:spcAft>
              <a:buNone/>
            </a:pPr>
            <a:r>
              <a:rPr lang="en" sz="1500" dirty="0"/>
              <a:t>Most variable temperature change: Sweden (Std Dev: 1.74)</a:t>
            </a:r>
            <a:endParaRPr sz="1500" dirty="0"/>
          </a:p>
          <a:p>
            <a:pPr marL="0" lvl="0" indent="0" algn="l" rtl="0">
              <a:spcBef>
                <a:spcPts val="1200"/>
              </a:spcBef>
              <a:spcAft>
                <a:spcPts val="1200"/>
              </a:spcAft>
              <a:buNone/>
            </a:pPr>
            <a:r>
              <a:rPr lang="en" sz="1500" dirty="0"/>
              <a:t>Overall trend: From 0.25°C in 1993 to 1.54°C in 2019</a:t>
            </a:r>
            <a:endParaRPr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1- Bar Chart &amp; Line chart</a:t>
            </a:r>
            <a:endParaRPr/>
          </a:p>
        </p:txBody>
      </p:sp>
      <p:sp>
        <p:nvSpPr>
          <p:cNvPr id="100" name="Google Shape;100;p17"/>
          <p:cNvSpPr txBox="1"/>
          <p:nvPr/>
        </p:nvSpPr>
        <p:spPr>
          <a:xfrm>
            <a:off x="6883700" y="2081938"/>
            <a:ext cx="2023200" cy="265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Roboto"/>
                <a:ea typeface="Roboto"/>
                <a:cs typeface="Roboto"/>
                <a:sym typeface="Roboto"/>
              </a:rPr>
              <a:t>This bar chart shows the average temperature change by country in the given timeframe. We can use this information to see if these countries share similar patterns with the other datasets.</a:t>
            </a:r>
            <a:endParaRPr>
              <a:solidFill>
                <a:schemeClr val="lt2"/>
              </a:solidFill>
              <a:latin typeface="Roboto"/>
              <a:ea typeface="Roboto"/>
              <a:cs typeface="Roboto"/>
              <a:sym typeface="Roboto"/>
            </a:endParaRPr>
          </a:p>
        </p:txBody>
      </p:sp>
      <p:pic>
        <p:nvPicPr>
          <p:cNvPr id="101" name="Google Shape;101;p17"/>
          <p:cNvPicPr preferRelativeResize="0"/>
          <p:nvPr/>
        </p:nvPicPr>
        <p:blipFill>
          <a:blip r:embed="rId3">
            <a:alphaModFix/>
          </a:blip>
          <a:stretch>
            <a:fillRect/>
          </a:stretch>
        </p:blipFill>
        <p:spPr>
          <a:xfrm>
            <a:off x="135225" y="1801775"/>
            <a:ext cx="6499876" cy="3215024"/>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1- Bar Chart &amp; Line chart</a:t>
            </a:r>
            <a:endParaRPr/>
          </a:p>
        </p:txBody>
      </p:sp>
      <p:pic>
        <p:nvPicPr>
          <p:cNvPr id="107" name="Google Shape;107;p18"/>
          <p:cNvPicPr preferRelativeResize="0"/>
          <p:nvPr/>
        </p:nvPicPr>
        <p:blipFill>
          <a:blip r:embed="rId3">
            <a:alphaModFix/>
          </a:blip>
          <a:stretch>
            <a:fillRect/>
          </a:stretch>
        </p:blipFill>
        <p:spPr>
          <a:xfrm>
            <a:off x="166375" y="1931400"/>
            <a:ext cx="7257426" cy="3013725"/>
          </a:xfrm>
          <a:prstGeom prst="rect">
            <a:avLst/>
          </a:prstGeom>
          <a:noFill/>
          <a:ln w="19050" cap="flat" cmpd="sng">
            <a:solidFill>
              <a:schemeClr val="dk2"/>
            </a:solidFill>
            <a:prstDash val="solid"/>
            <a:round/>
            <a:headEnd type="none" w="sm" len="sm"/>
            <a:tailEnd type="none" w="sm" len="sm"/>
          </a:ln>
        </p:spPr>
      </p:pic>
      <p:sp>
        <p:nvSpPr>
          <p:cNvPr id="108" name="Google Shape;108;p18"/>
          <p:cNvSpPr txBox="1"/>
          <p:nvPr/>
        </p:nvSpPr>
        <p:spPr>
          <a:xfrm>
            <a:off x="7586675" y="1931400"/>
            <a:ext cx="1405800" cy="296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lt2"/>
                </a:solidFill>
                <a:latin typeface="Roboto"/>
                <a:ea typeface="Roboto"/>
                <a:cs typeface="Roboto"/>
                <a:sym typeface="Roboto"/>
              </a:rPr>
              <a:t>The line chart shows the temperature change over time for each country. We can see that over time, the temperature change seems to be slowly increasing.</a:t>
            </a:r>
            <a:endParaRPr>
              <a:solidFill>
                <a:schemeClr val="lt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9"/>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2 - CO2 Emissions</a:t>
            </a:r>
            <a:endParaRPr/>
          </a:p>
        </p:txBody>
      </p:sp>
      <p:sp>
        <p:nvSpPr>
          <p:cNvPr id="114" name="Google Shape;114;p19"/>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dirty="0"/>
              <a:t>We found this dataset on kaggle.com. This contains the average CO2 emissions for each country yearly from 1750 - 2022. We filtered the dataset for our target countries and years. </a:t>
            </a:r>
            <a:endParaRPr dirty="0"/>
          </a:p>
          <a:p>
            <a:pPr marL="0" lvl="0" indent="0" algn="l" rtl="0">
              <a:spcBef>
                <a:spcPts val="1200"/>
              </a:spcBef>
              <a:spcAft>
                <a:spcPts val="0"/>
              </a:spcAft>
              <a:buNone/>
            </a:pPr>
            <a:r>
              <a:rPr lang="en" dirty="0"/>
              <a:t>This is a summary of what we found: </a:t>
            </a:r>
            <a:r>
              <a:rPr lang="en" b="1" dirty="0"/>
              <a:t>KEY INSIGHTS</a:t>
            </a:r>
            <a:r>
              <a:rPr lang="en" dirty="0"/>
              <a:t> (1993–2021):</a:t>
            </a:r>
            <a:endParaRPr dirty="0"/>
          </a:p>
          <a:p>
            <a:pPr marL="0" lvl="0" indent="0" algn="l" rtl="0">
              <a:spcBef>
                <a:spcPts val="1200"/>
              </a:spcBef>
              <a:spcAft>
                <a:spcPts val="0"/>
              </a:spcAft>
              <a:buNone/>
            </a:pPr>
            <a:r>
              <a:rPr lang="en" dirty="0"/>
              <a:t>Highest average CO₂ emissions: United States (342,071,428,571 tons)</a:t>
            </a:r>
            <a:endParaRPr dirty="0"/>
          </a:p>
          <a:p>
            <a:pPr marL="0" lvl="0" indent="0" algn="l" rtl="0">
              <a:spcBef>
                <a:spcPts val="1200"/>
              </a:spcBef>
              <a:spcAft>
                <a:spcPts val="0"/>
              </a:spcAft>
              <a:buNone/>
            </a:pPr>
            <a:r>
              <a:rPr lang="en" dirty="0"/>
              <a:t>Lowest average CO₂ emissions: Egypt (3,630,361,035 tons)</a:t>
            </a:r>
            <a:endParaRPr dirty="0"/>
          </a:p>
          <a:p>
            <a:pPr marL="0" lvl="0" indent="0" algn="l" rtl="0">
              <a:spcBef>
                <a:spcPts val="1200"/>
              </a:spcBef>
              <a:spcAft>
                <a:spcPts val="0"/>
              </a:spcAft>
              <a:buNone/>
            </a:pPr>
            <a:r>
              <a:rPr lang="en" dirty="0"/>
              <a:t>Most variable CO₂ emissions: China (Std Dev: 57,507,837,752 tons)</a:t>
            </a:r>
            <a:endParaRPr dirty="0"/>
          </a:p>
          <a:p>
            <a:pPr marL="0" lvl="0" indent="0" algn="l" rtl="0">
              <a:spcBef>
                <a:spcPts val="1200"/>
              </a:spcBef>
              <a:spcAft>
                <a:spcPts val="1200"/>
              </a:spcAft>
              <a:buNone/>
            </a:pPr>
            <a:r>
              <a:rPr lang="en" dirty="0"/>
              <a:t>Overall trend: From 45,428,775,265 tons in 1993 to 90,190,058,976 tons in 2020</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0"/>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2 - Boxplot</a:t>
            </a:r>
            <a:endParaRPr/>
          </a:p>
        </p:txBody>
      </p:sp>
      <p:pic>
        <p:nvPicPr>
          <p:cNvPr id="120" name="Google Shape;120;p20"/>
          <p:cNvPicPr preferRelativeResize="0"/>
          <p:nvPr/>
        </p:nvPicPr>
        <p:blipFill>
          <a:blip r:embed="rId3">
            <a:alphaModFix/>
          </a:blip>
          <a:stretch>
            <a:fillRect/>
          </a:stretch>
        </p:blipFill>
        <p:spPr>
          <a:xfrm>
            <a:off x="169550" y="1805400"/>
            <a:ext cx="6576998" cy="3237124"/>
          </a:xfrm>
          <a:prstGeom prst="rect">
            <a:avLst/>
          </a:prstGeom>
          <a:noFill/>
          <a:ln w="28575" cap="flat" cmpd="sng">
            <a:solidFill>
              <a:schemeClr val="dk2"/>
            </a:solidFill>
            <a:prstDash val="solid"/>
            <a:round/>
            <a:headEnd type="none" w="sm" len="sm"/>
            <a:tailEnd type="none" w="sm" len="sm"/>
          </a:ln>
        </p:spPr>
      </p:pic>
      <p:sp>
        <p:nvSpPr>
          <p:cNvPr id="121" name="Google Shape;121;p20"/>
          <p:cNvSpPr txBox="1"/>
          <p:nvPr/>
        </p:nvSpPr>
        <p:spPr>
          <a:xfrm>
            <a:off x="6943725" y="1843100"/>
            <a:ext cx="20745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chemeClr val="lt2"/>
                </a:solidFill>
                <a:latin typeface="Roboto"/>
                <a:ea typeface="Roboto"/>
                <a:cs typeface="Roboto"/>
                <a:sym typeface="Roboto"/>
              </a:rPr>
              <a:t>The box plot shows the carbon dioxide emission in tons by each country throughout our target years. The United States and China can be seen to have the largest amounts of emissions and greater fluctuations in amounts</a:t>
            </a:r>
            <a:endParaRPr>
              <a:solidFill>
                <a:schemeClr val="l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2 - Line Chart</a:t>
            </a:r>
            <a:endParaRPr/>
          </a:p>
        </p:txBody>
      </p:sp>
      <p:pic>
        <p:nvPicPr>
          <p:cNvPr id="127" name="Google Shape;127;p21"/>
          <p:cNvPicPr preferRelativeResize="0"/>
          <p:nvPr/>
        </p:nvPicPr>
        <p:blipFill>
          <a:blip r:embed="rId3">
            <a:alphaModFix/>
          </a:blip>
          <a:stretch>
            <a:fillRect/>
          </a:stretch>
        </p:blipFill>
        <p:spPr>
          <a:xfrm>
            <a:off x="214300" y="2069425"/>
            <a:ext cx="6276649" cy="2531725"/>
          </a:xfrm>
          <a:prstGeom prst="rect">
            <a:avLst/>
          </a:prstGeom>
          <a:noFill/>
          <a:ln w="28575" cap="flat" cmpd="sng">
            <a:solidFill>
              <a:schemeClr val="dk2"/>
            </a:solidFill>
            <a:prstDash val="solid"/>
            <a:round/>
            <a:headEnd type="none" w="sm" len="sm"/>
            <a:tailEnd type="none" w="sm" len="sm"/>
          </a:ln>
        </p:spPr>
      </p:pic>
      <p:sp>
        <p:nvSpPr>
          <p:cNvPr id="128" name="Google Shape;128;p21"/>
          <p:cNvSpPr txBox="1"/>
          <p:nvPr/>
        </p:nvSpPr>
        <p:spPr>
          <a:xfrm>
            <a:off x="6642375" y="1796138"/>
            <a:ext cx="2427600" cy="30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lt2"/>
                </a:solidFill>
                <a:latin typeface="Roboto"/>
                <a:ea typeface="Roboto"/>
                <a:cs typeface="Roboto"/>
                <a:sym typeface="Roboto"/>
              </a:rPr>
              <a:t>We can see that as time advances, the CO2 emissions increase for most countries. Countries with larger economies like the US and China increased in carbon emissions faster than others.</a:t>
            </a:r>
            <a:endParaRPr sz="1800">
              <a:solidFill>
                <a:schemeClr val="l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2"/>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3 -  Sea Level</a:t>
            </a:r>
            <a:endParaRPr/>
          </a:p>
        </p:txBody>
      </p:sp>
      <p:sp>
        <p:nvSpPr>
          <p:cNvPr id="134" name="Google Shape;134;p22"/>
          <p:cNvSpPr txBox="1">
            <a:spLocks noGrp="1"/>
          </p:cNvSpPr>
          <p:nvPr>
            <p:ph type="body" idx="1"/>
          </p:nvPr>
        </p:nvSpPr>
        <p:spPr>
          <a:xfrm>
            <a:off x="471900" y="1919075"/>
            <a:ext cx="8063400" cy="282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chemeClr val="dk2"/>
                </a:solidFill>
              </a:rPr>
              <a:t>This dataset shows global sea levels from 1993 to 2021 via satellites. It includes the global mean sea level (GMSL), filtered and adjusted versions (Gaussian filter, GIA, signal-removed), and their standard deviations.</a:t>
            </a:r>
            <a:endParaRPr sz="1500" dirty="0">
              <a:solidFill>
                <a:schemeClr val="dk2"/>
              </a:solidFill>
            </a:endParaRPr>
          </a:p>
          <a:p>
            <a:pPr marL="0" lvl="0" indent="0" algn="l" rtl="0">
              <a:spcBef>
                <a:spcPts val="1200"/>
              </a:spcBef>
              <a:spcAft>
                <a:spcPts val="0"/>
              </a:spcAft>
              <a:buNone/>
            </a:pPr>
            <a:r>
              <a:rPr lang="en" sz="1500" dirty="0">
                <a:solidFill>
                  <a:schemeClr val="dk2"/>
                </a:solidFill>
              </a:rPr>
              <a:t>This is a summary of what we found: KEY INSIGHTS: Global Sea Level (2000–2020) (mm)</a:t>
            </a:r>
            <a:endParaRPr sz="1500" dirty="0">
              <a:solidFill>
                <a:schemeClr val="dk2"/>
              </a:solidFill>
            </a:endParaRPr>
          </a:p>
          <a:p>
            <a:pPr marL="0" lvl="0" indent="0" algn="l" rtl="0">
              <a:spcBef>
                <a:spcPts val="1200"/>
              </a:spcBef>
              <a:spcAft>
                <a:spcPts val="0"/>
              </a:spcAft>
              <a:buNone/>
            </a:pPr>
            <a:r>
              <a:rPr lang="en" sz="1500" dirty="0">
                <a:solidFill>
                  <a:schemeClr val="dk2"/>
                </a:solidFill>
              </a:rPr>
              <a:t>Sea level rose from -17.98 mm in 2000 to 50.91 mm in 2020.</a:t>
            </a:r>
            <a:endParaRPr sz="1500" dirty="0">
              <a:solidFill>
                <a:schemeClr val="dk2"/>
              </a:solidFill>
            </a:endParaRPr>
          </a:p>
          <a:p>
            <a:pPr marL="0" lvl="0" indent="0" algn="l" rtl="0">
              <a:spcBef>
                <a:spcPts val="1200"/>
              </a:spcBef>
              <a:spcAft>
                <a:spcPts val="0"/>
              </a:spcAft>
              <a:buNone/>
            </a:pPr>
            <a:r>
              <a:rPr lang="en" sz="1500" dirty="0">
                <a:solidFill>
                  <a:schemeClr val="dk2"/>
                </a:solidFill>
              </a:rPr>
              <a:t>Highest sea level: 64.39 mm in 2019</a:t>
            </a:r>
            <a:endParaRPr sz="1500" dirty="0">
              <a:solidFill>
                <a:schemeClr val="dk2"/>
              </a:solidFill>
            </a:endParaRPr>
          </a:p>
          <a:p>
            <a:pPr marL="0" lvl="0" indent="0" algn="l" rtl="0">
              <a:spcBef>
                <a:spcPts val="1200"/>
              </a:spcBef>
              <a:spcAft>
                <a:spcPts val="0"/>
              </a:spcAft>
              <a:buNone/>
            </a:pPr>
            <a:r>
              <a:rPr lang="en" sz="1500" dirty="0">
                <a:solidFill>
                  <a:schemeClr val="dk2"/>
                </a:solidFill>
              </a:rPr>
              <a:t>Lowest sea level: -23.15 mm in 2000</a:t>
            </a:r>
            <a:endParaRPr sz="1500" dirty="0">
              <a:solidFill>
                <a:schemeClr val="dk2"/>
              </a:solidFill>
            </a:endParaRPr>
          </a:p>
          <a:p>
            <a:pPr marL="0" lvl="0" indent="0" algn="l" rtl="0">
              <a:spcBef>
                <a:spcPts val="1200"/>
              </a:spcBef>
              <a:spcAft>
                <a:spcPts val="1200"/>
              </a:spcAft>
              <a:buNone/>
            </a:pPr>
            <a:r>
              <a:rPr lang="en" sz="1500" dirty="0">
                <a:solidFill>
                  <a:schemeClr val="dk2"/>
                </a:solidFill>
              </a:rPr>
              <a:t>Standard deviation in sea level: 22.63 mm</a:t>
            </a:r>
            <a:endParaRPr sz="1500" dirty="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Dataset 3 - Scatter Plot &amp; Area Chart</a:t>
            </a:r>
            <a:endParaRPr/>
          </a:p>
        </p:txBody>
      </p:sp>
      <p:sp>
        <p:nvSpPr>
          <p:cNvPr id="140" name="Google Shape;140;p23"/>
          <p:cNvSpPr txBox="1"/>
          <p:nvPr/>
        </p:nvSpPr>
        <p:spPr>
          <a:xfrm>
            <a:off x="2281350" y="1858238"/>
            <a:ext cx="4603200" cy="103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lt2"/>
                </a:solidFill>
                <a:latin typeface="Roboto"/>
                <a:ea typeface="Roboto"/>
                <a:cs typeface="Roboto"/>
                <a:sym typeface="Roboto"/>
              </a:rPr>
              <a:t>Both of these charts show the increase in sea level over time. We can see a steady increase from the year 2000 until 2020. </a:t>
            </a:r>
            <a:endParaRPr sz="1800">
              <a:solidFill>
                <a:schemeClr val="lt2"/>
              </a:solidFill>
              <a:latin typeface="Roboto"/>
              <a:ea typeface="Roboto"/>
              <a:cs typeface="Roboto"/>
              <a:sym typeface="Roboto"/>
            </a:endParaRPr>
          </a:p>
        </p:txBody>
      </p:sp>
      <p:pic>
        <p:nvPicPr>
          <p:cNvPr id="141" name="Google Shape;141;p23"/>
          <p:cNvPicPr preferRelativeResize="0"/>
          <p:nvPr/>
        </p:nvPicPr>
        <p:blipFill>
          <a:blip r:embed="rId3">
            <a:alphaModFix/>
          </a:blip>
          <a:stretch>
            <a:fillRect/>
          </a:stretch>
        </p:blipFill>
        <p:spPr>
          <a:xfrm>
            <a:off x="471900" y="3035763"/>
            <a:ext cx="3896238" cy="1919600"/>
          </a:xfrm>
          <a:prstGeom prst="rect">
            <a:avLst/>
          </a:prstGeom>
          <a:noFill/>
          <a:ln w="28575" cap="flat" cmpd="sng">
            <a:solidFill>
              <a:schemeClr val="dk2"/>
            </a:solidFill>
            <a:prstDash val="solid"/>
            <a:round/>
            <a:headEnd type="none" w="sm" len="sm"/>
            <a:tailEnd type="none" w="sm" len="sm"/>
          </a:ln>
        </p:spPr>
      </p:pic>
      <p:pic>
        <p:nvPicPr>
          <p:cNvPr id="142" name="Google Shape;142;p23"/>
          <p:cNvPicPr preferRelativeResize="0"/>
          <p:nvPr/>
        </p:nvPicPr>
        <p:blipFill>
          <a:blip r:embed="rId4">
            <a:alphaModFix/>
          </a:blip>
          <a:stretch>
            <a:fillRect/>
          </a:stretch>
        </p:blipFill>
        <p:spPr>
          <a:xfrm>
            <a:off x="4797750" y="3036901"/>
            <a:ext cx="3896252" cy="1917327"/>
          </a:xfrm>
          <a:prstGeom prst="rect">
            <a:avLst/>
          </a:prstGeom>
          <a:noFill/>
          <a:ln w="28575" cap="flat" cmpd="sng">
            <a:solidFill>
              <a:schemeClr val="dk2"/>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Comparing the datasets</a:t>
            </a:r>
            <a:endParaRPr/>
          </a:p>
        </p:txBody>
      </p:sp>
      <p:pic>
        <p:nvPicPr>
          <p:cNvPr id="148" name="Google Shape;148;p24"/>
          <p:cNvPicPr preferRelativeResize="0"/>
          <p:nvPr/>
        </p:nvPicPr>
        <p:blipFill>
          <a:blip r:embed="rId3">
            <a:alphaModFix/>
          </a:blip>
          <a:stretch>
            <a:fillRect/>
          </a:stretch>
        </p:blipFill>
        <p:spPr>
          <a:xfrm>
            <a:off x="119900" y="1718926"/>
            <a:ext cx="3979476" cy="1652498"/>
          </a:xfrm>
          <a:prstGeom prst="rect">
            <a:avLst/>
          </a:prstGeom>
          <a:noFill/>
          <a:ln w="19050" cap="flat" cmpd="sng">
            <a:solidFill>
              <a:schemeClr val="dk2"/>
            </a:solidFill>
            <a:prstDash val="solid"/>
            <a:round/>
            <a:headEnd type="none" w="sm" len="sm"/>
            <a:tailEnd type="none" w="sm" len="sm"/>
          </a:ln>
        </p:spPr>
      </p:pic>
      <p:pic>
        <p:nvPicPr>
          <p:cNvPr id="149" name="Google Shape;149;p24"/>
          <p:cNvPicPr preferRelativeResize="0"/>
          <p:nvPr/>
        </p:nvPicPr>
        <p:blipFill>
          <a:blip r:embed="rId4">
            <a:alphaModFix/>
          </a:blip>
          <a:stretch>
            <a:fillRect/>
          </a:stretch>
        </p:blipFill>
        <p:spPr>
          <a:xfrm>
            <a:off x="119900" y="3371425"/>
            <a:ext cx="3979476" cy="1605149"/>
          </a:xfrm>
          <a:prstGeom prst="rect">
            <a:avLst/>
          </a:prstGeom>
          <a:noFill/>
          <a:ln w="19050" cap="flat" cmpd="sng">
            <a:solidFill>
              <a:schemeClr val="dk2"/>
            </a:solidFill>
            <a:prstDash val="solid"/>
            <a:round/>
            <a:headEnd type="none" w="sm" len="sm"/>
            <a:tailEnd type="none" w="sm" len="sm"/>
          </a:ln>
        </p:spPr>
      </p:pic>
      <p:pic>
        <p:nvPicPr>
          <p:cNvPr id="150" name="Google Shape;150;p24"/>
          <p:cNvPicPr preferRelativeResize="0"/>
          <p:nvPr/>
        </p:nvPicPr>
        <p:blipFill>
          <a:blip r:embed="rId5">
            <a:alphaModFix/>
          </a:blip>
          <a:stretch>
            <a:fillRect/>
          </a:stretch>
        </p:blipFill>
        <p:spPr>
          <a:xfrm>
            <a:off x="4207200" y="2269102"/>
            <a:ext cx="4741701" cy="2262999"/>
          </a:xfrm>
          <a:prstGeom prst="rect">
            <a:avLst/>
          </a:prstGeom>
          <a:noFill/>
          <a:ln w="28575" cap="flat" cmpd="sng">
            <a:solidFill>
              <a:schemeClr val="dk2"/>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Comparing the datasets cont.</a:t>
            </a:r>
            <a:endParaRPr/>
          </a:p>
        </p:txBody>
      </p:sp>
      <p:sp>
        <p:nvSpPr>
          <p:cNvPr id="156" name="Google Shape;156;p25"/>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Based on the graphs, it's clear that rising CO₂ levels, rising global temperatures, and rising sea levels are all connected. As the CO₂ levels go up in the graphs, the temperature and sea level graphs also show an increase. This shows a positive correlation between all three.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Conclusion</a:t>
            </a:r>
            <a:endParaRPr/>
          </a:p>
        </p:txBody>
      </p:sp>
      <p:sp>
        <p:nvSpPr>
          <p:cNvPr id="162" name="Google Shape;162;p26"/>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Comparing the data sets we used, highlights the complex nature of global climate change. Countries such as Germany, Sweden and France have the highest average temperature increases, but do not contribute as much to CO2 emissions, where the US and China have over 10x the emissions of most countries. Global sea levels have shown a constant rise since 1993, which shows a direct correlation from the temperature changes and increasing CO2 emissions. Climate Change is a Global issue that is being felt worldwide, and needs a coordinated attack to be reduced.</a:t>
            </a:r>
            <a:endParaRPr/>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897</Words>
  <Application>Microsoft Office PowerPoint</Application>
  <PresentationFormat>On-screen Show (16:9)</PresentationFormat>
  <Paragraphs>71</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Lilita One</vt:lpstr>
      <vt:lpstr>Arial</vt:lpstr>
      <vt:lpstr>Roboto</vt:lpstr>
      <vt:lpstr>Libre Baskerville</vt:lpstr>
      <vt:lpstr>Material</vt:lpstr>
      <vt:lpstr>Global Trends in Temperature, Water Level, and CO2 Emissions</vt:lpstr>
      <vt:lpstr>What information we were looking for →</vt:lpstr>
      <vt:lpstr>Overview of Global Climate Change</vt:lpstr>
      <vt:lpstr>Dataset 1 – Temperature Change</vt:lpstr>
      <vt:lpstr>Dataset 1- Bar Chart &amp; Line chart</vt:lpstr>
      <vt:lpstr>Dataset 1- Bar Chart &amp; Line chart</vt:lpstr>
      <vt:lpstr>Dataset 2 - CO2 Emissions</vt:lpstr>
      <vt:lpstr>Dataset 2 - Boxplot</vt:lpstr>
      <vt:lpstr>Dataset 2 - Line Chart</vt:lpstr>
      <vt:lpstr>Dataset 3 -  Sea Level</vt:lpstr>
      <vt:lpstr>Dataset 3 - Scatter Plot &amp; Area Chart</vt:lpstr>
      <vt:lpstr>Comparing the datasets</vt:lpstr>
      <vt:lpstr>Comparing the datasets cont.</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Luke Nobrega</cp:lastModifiedBy>
  <cp:revision>1</cp:revision>
  <dcterms:modified xsi:type="dcterms:W3CDTF">2026-08-28T17:53:40Z</dcterms:modified>
</cp:coreProperties>
</file>